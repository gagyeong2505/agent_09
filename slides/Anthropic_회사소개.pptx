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Anthropic은 대화형 AI 'Claude'를 만든 회사입니다. 오늘은 회사 개요, 핵심 숫자, 제품 라인업을 짧게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창업진은 대부분 OpenAI 출신 연구자들입니다. 공익법인(Public Benefit Corporation)이라서 주주 이익뿐 아니라 공익도 경영 목표로 삼습니다. 2026년 6월 1일 S-1을 비공개로 제출했고, 10월 중순 이후 상장 마케팅을 시작할 것으로 보도됐습니다.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2026년 5월 시리즈 H에서 650억 달러를 조달하며 기업가치 9,650억 달러로 OpenAI를 넘어섰습니다. 연환산 매출(run-rate)은 2025년 말 약 90억 달러에서 2026년 5월 약 470억 달러로 크게 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모델은 성능과 비용에 따라 Opus·Sonnet·Haiku 세 등급으로 나뉩니다. 현재 최신 세대는 Claude 5 계열(Opus 5.5, Sonnet 5.5)이고, 경량 모델은 Haiku 4.5입니다. 개인은 Claude 앱으로, 개발자는 Claude Code와 API로, 기업은 AWS Bedrock·Google Cloud Vertex AI 같은 클라우드로도 사용할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Anthropic의 안전 철학: Constitutional AI(원칙 목록으로 모델을 훈련하는 방식), 책임 있는 확장 정책(RSP, 능력이 커질수록 안전 기준을 높이는 정책), 해석 가능성(모델 내부 작동 연구)이 대표적입니다.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1737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Anthropic: 안전한 AI를 만드는 회사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DE9D9"/>
                </a:solidFill>
                <a:latin typeface="맑은 고딕"/>
                <a:ea typeface="맑은 고딕"/>
                <a:cs typeface="맑은 고딕"/>
              </a:rPr>
              <a:t>Claude를 개발한 AI 연구·제품 기업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CBAD"/>
                </a:solidFill>
                <a:latin typeface="맑은 고딕"/>
                <a:ea typeface="맑은 고딕"/>
                <a:cs typeface="맑은 고딕"/>
              </a:rPr>
              <a:t>춘식 ·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2021년 설립, '안전 우선'을 내건 AI 기업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2021년 다리오·다니엘라 아모데이 남매 등이 공동 창업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    – </a:t>
            </a: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다리오 아모데이 CEO, 다니엘라 아모데이 사장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본사: 미국 샌프란시스코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공익법인(PBC) 구조로 공익과 이윤을 함께 추구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미션: 안전하고 신뢰할 수 있는 AI 개발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2026년 6월 IPO 서류를 비공개 제출, 상장 준비 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기업가치 약 1조 달러, AI 스타트업 1위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533573" cy="237744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2533573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533573" cy="1097280"/>
          </a:xfrm>
          <a:prstGeom prst="rect">
            <a:avLst/>
          </a:prstGeom>
          <a:solidFill>
            <a:srgbClr val="FBE5D6"/>
          </a:solidFill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2259253" cy="914400"/>
          </a:xfrm>
          <a:prstGeom prst="rect">
            <a:avLst/>
          </a:prstGeom>
          <a:solidFill>
            <a:srgbClr val="FBE5D6"/>
          </a:solidFill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설립 연도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2253" y="1783080"/>
            <a:ext cx="2533573" cy="237744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2253" y="1783080"/>
            <a:ext cx="2533573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2253" y="2103120"/>
            <a:ext cx="2533573" cy="1097280"/>
          </a:xfrm>
          <a:prstGeom prst="rect">
            <a:avLst/>
          </a:prstGeom>
          <a:solidFill>
            <a:srgbClr val="FBE5D6"/>
          </a:solidFill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$9,650억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9413" y="3246120"/>
            <a:ext cx="2259253" cy="914400"/>
          </a:xfrm>
          <a:prstGeom prst="rect">
            <a:avLst/>
          </a:prstGeom>
          <a:solidFill>
            <a:srgbClr val="FBE5D6"/>
          </a:solidFill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기업가치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5866" y="1783080"/>
            <a:ext cx="2533573" cy="237744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5866" y="1783080"/>
            <a:ext cx="2533573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5866" y="2103120"/>
            <a:ext cx="2533573" cy="1097280"/>
          </a:xfrm>
          <a:prstGeom prst="rect">
            <a:avLst/>
          </a:prstGeom>
          <a:solidFill>
            <a:srgbClr val="FBE5D6"/>
          </a:solidFill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$650억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026" y="3246120"/>
            <a:ext cx="2259253" cy="914400"/>
          </a:xfrm>
          <a:prstGeom prst="rect">
            <a:avLst/>
          </a:prstGeom>
          <a:solidFill>
            <a:srgbClr val="FBE5D6"/>
          </a:solidFill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시리즈 H 조달액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9479" y="1783080"/>
            <a:ext cx="2533573" cy="237744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09479" y="1783080"/>
            <a:ext cx="2533573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9479" y="2103120"/>
            <a:ext cx="2533573" cy="1097280"/>
          </a:xfrm>
          <a:prstGeom prst="rect">
            <a:avLst/>
          </a:prstGeom>
          <a:solidFill>
            <a:srgbClr val="FBE5D6"/>
          </a:solidFill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$470억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6639" y="3246120"/>
            <a:ext cx="2259253" cy="914400"/>
          </a:xfrm>
          <a:prstGeom prst="rect">
            <a:avLst/>
          </a:prstGeom>
          <a:solidFill>
            <a:srgbClr val="FBE5D6"/>
          </a:solidFill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연환산 매출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기업가치·조달액·매출은 2026년 5월 시리즈 H 발표 기준 (출처: TechCrunch, CNBC)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용도별 모델 3종 + 다양한 사용 채널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364327" cy="5486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99856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Claude 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364327" cy="425196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998567" cy="3886200"/>
          </a:xfrm>
          <a:prstGeom prst="rect">
            <a:avLst/>
          </a:prstGeom>
          <a:solidFill>
            <a:srgbClr val="FBE5D6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Opus: 최고 성능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Sonnet: 성능·속도 균형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Haiku: 빠르고 저렴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최신: Opus 5.5 등 5세대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417320"/>
            <a:ext cx="5364327" cy="5486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417320"/>
            <a:ext cx="499856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제품·서비스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965960"/>
            <a:ext cx="5364327" cy="425196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2148840"/>
            <a:ext cx="4998567" cy="3886200"/>
          </a:xfrm>
          <a:prstGeom prst="rect">
            <a:avLst/>
          </a:prstGeom>
          <a:solidFill>
            <a:srgbClr val="FBE5D6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Claude 앱 (웹·데스크톱·모바일)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Claude Code: 코딩 에이전트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Claude API: 개발자용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D7D3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클라우드: AWS·구글 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DE9D9"/>
                </a:solidFill>
                <a:latin typeface="맑은 고딕"/>
                <a:ea typeface="맑은 고딕"/>
                <a:cs typeface="맑은 고딕"/>
              </a:rPr>
              <a:t>안전을 최우선으로, 사람에게 도움이 되는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회사 소개</dc:title>
  <dc:subject/>
  <dc:creator>춘식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